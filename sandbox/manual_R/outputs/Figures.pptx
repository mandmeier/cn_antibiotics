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AD"/>
    <a:srgbClr val="B2182B"/>
    <a:srgbClr val="EACB7F"/>
    <a:srgbClr val="8C510A"/>
    <a:srgbClr val="289B87"/>
    <a:srgbClr val="44377A"/>
    <a:srgbClr val="C89B0F"/>
    <a:srgbClr val="D4A413"/>
    <a:srgbClr val="F3B900"/>
    <a:srgbClr val="C6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97"/>
    <p:restoredTop sz="96143"/>
  </p:normalViewPr>
  <p:slideViewPr>
    <p:cSldViewPr snapToGrid="0">
      <p:cViewPr>
        <p:scale>
          <a:sx n="123" d="100"/>
          <a:sy n="123" d="100"/>
        </p:scale>
        <p:origin x="808" y="-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2A15D-6E05-C448-885A-329F28F657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8BD57-6497-A842-A239-559EDCCBE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7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 </a:t>
            </a:r>
            <a:r>
              <a:rPr lang="en-US"/>
              <a:t>made in Script </a:t>
            </a:r>
            <a:r>
              <a:rPr lang="en-US" dirty="0"/>
              <a:t>R/analysis/</a:t>
            </a:r>
            <a:r>
              <a:rPr lang="en-US" dirty="0" err="1"/>
              <a:t>province_group_by_antibiotics.R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8BD57-6497-A842-A239-559EDCCBE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90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3185C-BF53-EBF6-B340-8C19E599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95D29-5CF5-B29C-F222-5D50BF9FA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4B374-16BD-5B9A-09D7-ED0E76A58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 </a:t>
            </a:r>
            <a:r>
              <a:rPr lang="en-US"/>
              <a:t>made in Script </a:t>
            </a:r>
            <a:r>
              <a:rPr lang="en-US" dirty="0"/>
              <a:t>R/analysis/</a:t>
            </a:r>
            <a:r>
              <a:rPr lang="en-US" dirty="0" err="1"/>
              <a:t>province_group_by_antibiotics.R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DF51D-EEBC-0FB5-AC28-AE2886139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8BD57-6497-A842-A239-559EDCCBEF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0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ECECC-1DA4-00F5-DDC9-A51E0FCD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A69BF-EF31-0191-3E92-23BDF5C3E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F7DE4-9C14-9268-6C95-C88491F22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 </a:t>
            </a:r>
            <a:r>
              <a:rPr lang="en-US"/>
              <a:t>made in Script </a:t>
            </a:r>
            <a:r>
              <a:rPr lang="en-US" dirty="0"/>
              <a:t>R/analysis/</a:t>
            </a:r>
            <a:r>
              <a:rPr lang="en-US" dirty="0" err="1"/>
              <a:t>province_group_by_antibiotics.R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805AD-088F-D610-8C21-F7A9E662C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8BD57-6497-A842-A239-559EDCCBEF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61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Improve: instead of N, also show the 35 reported means and max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8BD57-6497-A842-A239-559EDCCBEF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4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85E1-4C0F-4002-5892-0399856C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D5609-4A9E-FA65-80C2-3B74B2FAC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3D5F2-ABA6-EA01-F786-C95333E5B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 made in Script R/analysis/</a:t>
            </a:r>
            <a:r>
              <a:rPr lang="en-US" dirty="0" err="1"/>
              <a:t>province_group_by_antibiotics.R</a:t>
            </a:r>
            <a:r>
              <a:rPr lang="en-US" dirty="0"/>
              <a:t>. add names of clusters, change color scheme. Add heatmap of feature importance.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28CD4-0B4A-C297-AA34-D98C812BB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8BD57-6497-A842-A239-559EDCCBEF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74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6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60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0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8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5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9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9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5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5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9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94DE93B-3EDF-5FF8-0B4F-0B8D233B6473}"/>
              </a:ext>
            </a:extLst>
          </p:cNvPr>
          <p:cNvGrpSpPr/>
          <p:nvPr/>
        </p:nvGrpSpPr>
        <p:grpSpPr>
          <a:xfrm>
            <a:off x="476145" y="3562353"/>
            <a:ext cx="6118175" cy="2781296"/>
            <a:chOff x="846479" y="956736"/>
            <a:chExt cx="10876755" cy="49445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3EDDEF-03D2-E428-2D2F-3F6ECAE6C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6479" y="1215462"/>
              <a:ext cx="5100545" cy="44270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194D179-C661-F710-B0A4-C70FC8DAB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7024" y="956736"/>
              <a:ext cx="5776210" cy="4944527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341A64-1242-2C4E-595B-5CBE90F3BB59}"/>
              </a:ext>
            </a:extLst>
          </p:cNvPr>
          <p:cNvSpPr txBox="1"/>
          <p:nvPr/>
        </p:nvSpPr>
        <p:spPr>
          <a:xfrm>
            <a:off x="364007" y="3760989"/>
            <a:ext cx="18412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C078B-C7EE-7238-FCBE-A7516C5FAD73}"/>
              </a:ext>
            </a:extLst>
          </p:cNvPr>
          <p:cNvSpPr txBox="1"/>
          <p:nvPr/>
        </p:nvSpPr>
        <p:spPr>
          <a:xfrm>
            <a:off x="3429000" y="3760989"/>
            <a:ext cx="26481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75036-C17A-BEA5-0CA5-7140A5D09C4C}"/>
              </a:ext>
            </a:extLst>
          </p:cNvPr>
          <p:cNvSpPr txBox="1"/>
          <p:nvPr/>
        </p:nvSpPr>
        <p:spPr>
          <a:xfrm>
            <a:off x="1894631" y="6696256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F6F038-9B90-DB2C-F399-3041E4535195}"/>
              </a:ext>
            </a:extLst>
          </p:cNvPr>
          <p:cNvSpPr txBox="1"/>
          <p:nvPr/>
        </p:nvSpPr>
        <p:spPr>
          <a:xfrm>
            <a:off x="402281" y="6488507"/>
            <a:ext cx="162897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Zhang data curated by me</a:t>
            </a:r>
          </a:p>
        </p:txBody>
      </p:sp>
    </p:spTree>
    <p:extLst>
      <p:ext uri="{BB962C8B-B14F-4D97-AF65-F5344CB8AC3E}">
        <p14:creationId xmlns:p14="http://schemas.microsoft.com/office/powerpoint/2010/main" val="372513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0D80-2FD0-A470-3DF5-E5D9CB5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FAF556-D66F-505C-FCE7-AF614A642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88" y="3834900"/>
            <a:ext cx="2597901" cy="2534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DBE48C-7ACB-CC93-F817-7AA3A1439E18}"/>
              </a:ext>
            </a:extLst>
          </p:cNvPr>
          <p:cNvSpPr txBox="1"/>
          <p:nvPr/>
        </p:nvSpPr>
        <p:spPr>
          <a:xfrm>
            <a:off x="364007" y="3760989"/>
            <a:ext cx="18412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C4B36-2C3D-4063-318B-998F57B5E9E5}"/>
              </a:ext>
            </a:extLst>
          </p:cNvPr>
          <p:cNvSpPr txBox="1"/>
          <p:nvPr/>
        </p:nvSpPr>
        <p:spPr>
          <a:xfrm>
            <a:off x="3197270" y="3760989"/>
            <a:ext cx="26481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1D38B-C992-46E7-42E8-947CB02F5564}"/>
              </a:ext>
            </a:extLst>
          </p:cNvPr>
          <p:cNvSpPr txBox="1"/>
          <p:nvPr/>
        </p:nvSpPr>
        <p:spPr>
          <a:xfrm>
            <a:off x="1894631" y="6696256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86C74-5673-CE26-FD99-3F9382B6D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589" y="3968738"/>
            <a:ext cx="3235348" cy="24137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2C7BFE-EC54-66A1-D649-D2E60D276065}"/>
              </a:ext>
            </a:extLst>
          </p:cNvPr>
          <p:cNvSpPr txBox="1"/>
          <p:nvPr/>
        </p:nvSpPr>
        <p:spPr>
          <a:xfrm>
            <a:off x="638055" y="6631149"/>
            <a:ext cx="126509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Interpolated values</a:t>
            </a:r>
          </a:p>
        </p:txBody>
      </p:sp>
    </p:spTree>
    <p:extLst>
      <p:ext uri="{BB962C8B-B14F-4D97-AF65-F5344CB8AC3E}">
        <p14:creationId xmlns:p14="http://schemas.microsoft.com/office/powerpoint/2010/main" val="47510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C6E19-7E6B-5D52-7EF6-185A8895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DB30F6-FCB9-2BDD-481D-32ABE5721715}"/>
              </a:ext>
            </a:extLst>
          </p:cNvPr>
          <p:cNvSpPr txBox="1"/>
          <p:nvPr/>
        </p:nvSpPr>
        <p:spPr>
          <a:xfrm>
            <a:off x="364007" y="3760989"/>
            <a:ext cx="18412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AB2AA-BCA5-D901-877B-3E77807CD223}"/>
              </a:ext>
            </a:extLst>
          </p:cNvPr>
          <p:cNvSpPr txBox="1"/>
          <p:nvPr/>
        </p:nvSpPr>
        <p:spPr>
          <a:xfrm>
            <a:off x="3429000" y="3760989"/>
            <a:ext cx="26481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254D4-1206-6075-CFC8-0C6365FA8307}"/>
              </a:ext>
            </a:extLst>
          </p:cNvPr>
          <p:cNvSpPr txBox="1"/>
          <p:nvPr/>
        </p:nvSpPr>
        <p:spPr>
          <a:xfrm>
            <a:off x="1894631" y="6696256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44D781-2110-48FC-17D7-8FB14686C1B4}"/>
              </a:ext>
            </a:extLst>
          </p:cNvPr>
          <p:cNvSpPr txBox="1"/>
          <p:nvPr/>
        </p:nvSpPr>
        <p:spPr>
          <a:xfrm>
            <a:off x="638054" y="6631149"/>
            <a:ext cx="149271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Not interpolated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5B29FD-0F24-8716-2A58-F6C4A6B17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510" y="4088942"/>
            <a:ext cx="3210006" cy="22647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C3E821-1BC8-923D-F818-61296A6F2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43" y="3923990"/>
            <a:ext cx="2785377" cy="242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6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068ABD1-1361-D99B-6AB1-3FD6A1DD7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7116"/>
            <a:ext cx="6858000" cy="20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FE3DA-3326-249D-B966-8024F659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8F1A83-0E53-AD81-F26D-78DA01BB4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644" y="1233087"/>
            <a:ext cx="2156791" cy="2385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CC727C-5C42-B230-CB2C-894FD84A4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6" y="1500170"/>
            <a:ext cx="4229388" cy="2118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0499C-DDF0-257F-92D7-3B88C9DC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6" y="3820150"/>
            <a:ext cx="6173120" cy="22656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9F63B3-618C-6146-3181-26BB2119B4E6}"/>
              </a:ext>
            </a:extLst>
          </p:cNvPr>
          <p:cNvSpPr txBox="1"/>
          <p:nvPr/>
        </p:nvSpPr>
        <p:spPr>
          <a:xfrm>
            <a:off x="305502" y="1275230"/>
            <a:ext cx="18412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1D7FA-57F8-3621-239A-C97712BC7525}"/>
              </a:ext>
            </a:extLst>
          </p:cNvPr>
          <p:cNvSpPr txBox="1"/>
          <p:nvPr/>
        </p:nvSpPr>
        <p:spPr>
          <a:xfrm>
            <a:off x="4144340" y="1275230"/>
            <a:ext cx="26481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b="1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B1EE7-889F-2BBC-CBE8-4D00E523C727}"/>
              </a:ext>
            </a:extLst>
          </p:cNvPr>
          <p:cNvSpPr txBox="1"/>
          <p:nvPr/>
        </p:nvSpPr>
        <p:spPr>
          <a:xfrm>
            <a:off x="305501" y="3642278"/>
            <a:ext cx="18412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9268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01CF65B3-EDCC-438E-7510-2900B340D7D0}"/>
              </a:ext>
            </a:extLst>
          </p:cNvPr>
          <p:cNvGrpSpPr/>
          <p:nvPr/>
        </p:nvGrpSpPr>
        <p:grpSpPr>
          <a:xfrm>
            <a:off x="471359" y="2041225"/>
            <a:ext cx="5716597" cy="4884022"/>
            <a:chOff x="471359" y="2041225"/>
            <a:chExt cx="5716597" cy="488402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40916DE-83FA-441A-1F23-C7B9D302368B}"/>
                </a:ext>
              </a:extLst>
            </p:cNvPr>
            <p:cNvSpPr txBox="1"/>
            <p:nvPr/>
          </p:nvSpPr>
          <p:spPr>
            <a:xfrm>
              <a:off x="1082905" y="4172295"/>
              <a:ext cx="14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unique antibiotics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2290EBB-040C-DC0D-F358-E32E2CF472C3}"/>
                </a:ext>
              </a:extLst>
            </p:cNvPr>
            <p:cNvSpPr/>
            <p:nvPr/>
          </p:nvSpPr>
          <p:spPr>
            <a:xfrm>
              <a:off x="518776" y="2041225"/>
              <a:ext cx="2771560" cy="381187"/>
            </a:xfrm>
            <a:prstGeom prst="roundRect">
              <a:avLst/>
            </a:prstGeom>
            <a:solidFill>
              <a:srgbClr val="289B8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Environmental Concentrations 2004-2024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C080A572-5F43-6190-734F-690B17D1E072}"/>
                </a:ext>
              </a:extLst>
            </p:cNvPr>
            <p:cNvSpPr/>
            <p:nvPr/>
          </p:nvSpPr>
          <p:spPr>
            <a:xfrm>
              <a:off x="3416396" y="2041225"/>
              <a:ext cx="2771560" cy="381187"/>
            </a:xfrm>
            <a:prstGeom prst="roundRect">
              <a:avLst/>
            </a:prstGeom>
            <a:solidFill>
              <a:srgbClr val="C656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Clinical Antibiotic Resistance 2024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7FF0733-6AC6-A9A5-BE9A-C77BF0109568}"/>
                </a:ext>
              </a:extLst>
            </p:cNvPr>
            <p:cNvSpPr/>
            <p:nvPr/>
          </p:nvSpPr>
          <p:spPr>
            <a:xfrm>
              <a:off x="3407396" y="4000617"/>
              <a:ext cx="2771560" cy="381187"/>
            </a:xfrm>
            <a:prstGeom prst="roundRect">
              <a:avLst/>
            </a:prstGeom>
            <a:solidFill>
              <a:srgbClr val="44377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Socioeconomic Variables 2024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741ADD-36B2-84DD-3512-9D7FE72A07D0}"/>
                </a:ext>
              </a:extLst>
            </p:cNvPr>
            <p:cNvSpPr txBox="1"/>
            <p:nvPr/>
          </p:nvSpPr>
          <p:spPr>
            <a:xfrm>
              <a:off x="483365" y="3080853"/>
              <a:ext cx="23603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sediment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soil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municipal sludge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surface water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municipal wastewater influent</a:t>
              </a: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9BB3C2-8EE6-7045-1551-409923800F7D}"/>
                </a:ext>
              </a:extLst>
            </p:cNvPr>
            <p:cNvSpPr txBox="1"/>
            <p:nvPr/>
          </p:nvSpPr>
          <p:spPr>
            <a:xfrm>
              <a:off x="2704476" y="3080853"/>
              <a:ext cx="565354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3552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1150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490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71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45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EEED2DF-6A38-DD4B-2475-18B3283F5A0B}"/>
                </a:ext>
              </a:extLst>
            </p:cNvPr>
            <p:cNvSpPr txBox="1"/>
            <p:nvPr/>
          </p:nvSpPr>
          <p:spPr>
            <a:xfrm>
              <a:off x="5622602" y="3080853"/>
              <a:ext cx="565354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321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279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279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217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FBDBF43-6866-E1F9-EA0D-7353404D7308}"/>
                </a:ext>
              </a:extLst>
            </p:cNvPr>
            <p:cNvSpPr txBox="1"/>
            <p:nvPr/>
          </p:nvSpPr>
          <p:spPr>
            <a:xfrm>
              <a:off x="3399645" y="5032421"/>
              <a:ext cx="2507536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Water resources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Water use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Land use and ecological area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Urban environmental infrastructure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Fertilizer and agriculture inputs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Industrial pollution treatment investment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Public health infrastructure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Pollution discharge and contamination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Economic output and development</a:t>
              </a:r>
            </a:p>
            <a:p>
              <a:pPr>
                <a:buNone/>
              </a:pP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Livestock, aquaculture and production</a:t>
              </a: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AD69E34-E7B8-51D0-2453-4C9F828E1B39}"/>
                </a:ext>
              </a:extLst>
            </p:cNvPr>
            <p:cNvSpPr txBox="1"/>
            <p:nvPr/>
          </p:nvSpPr>
          <p:spPr>
            <a:xfrm>
              <a:off x="5613602" y="5032421"/>
              <a:ext cx="56535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pPr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2872819-0A5D-8380-D533-C8477C9D5E2C}"/>
                </a:ext>
              </a:extLst>
            </p:cNvPr>
            <p:cNvSpPr txBox="1"/>
            <p:nvPr/>
          </p:nvSpPr>
          <p:spPr>
            <a:xfrm>
              <a:off x="3407396" y="3080853"/>
              <a:ext cx="2360317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S. </a:t>
              </a:r>
              <a:r>
                <a:rPr lang="en-US" sz="900" i="1" dirty="0">
                  <a:latin typeface="Arial" panose="020B0604020202020204" pitchFamily="34" charset="0"/>
                  <a:cs typeface="Arial" panose="020B0604020202020204" pitchFamily="34" charset="0"/>
                </a:rPr>
                <a:t>aureus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E. </a:t>
              </a:r>
              <a:r>
                <a:rPr lang="en-US" sz="900" i="1" dirty="0">
                  <a:latin typeface="Arial" panose="020B0604020202020204" pitchFamily="34" charset="0"/>
                  <a:cs typeface="Arial" panose="020B0604020202020204" pitchFamily="34" charset="0"/>
                </a:rPr>
                <a:t>coli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K. </a:t>
              </a:r>
              <a:r>
                <a:rPr lang="en-US" sz="900" i="1" dirty="0">
                  <a:latin typeface="Arial" panose="020B0604020202020204" pitchFamily="34" charset="0"/>
                  <a:cs typeface="Arial" panose="020B0604020202020204" pitchFamily="34" charset="0"/>
                </a:rPr>
                <a:t>pneumoniae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A. </a:t>
              </a:r>
              <a:r>
                <a:rPr lang="en-US" sz="900" i="1" dirty="0">
                  <a:latin typeface="Arial" panose="020B0604020202020204" pitchFamily="34" charset="0"/>
                  <a:cs typeface="Arial" panose="020B0604020202020204" pitchFamily="34" charset="0"/>
                </a:rPr>
                <a:t>baumannii</a:t>
              </a:r>
            </a:p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P. </a:t>
              </a:r>
              <a:r>
                <a:rPr lang="en-US" sz="900" i="1" dirty="0">
                  <a:latin typeface="Arial" panose="020B0604020202020204" pitchFamily="34" charset="0"/>
                  <a:cs typeface="Arial" panose="020B0604020202020204" pitchFamily="34" charset="0"/>
                </a:rPr>
                <a:t>aeruginosa</a:t>
              </a: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410E763-B337-7A3A-E20D-AF582BB59FD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06407" y="4943108"/>
              <a:ext cx="1676622" cy="1260450"/>
              <a:chOff x="220161" y="4707266"/>
              <a:chExt cx="2286028" cy="1718589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6562C74-E838-ED39-C2CD-B204113C47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0161" y="4707266"/>
                <a:ext cx="1823583" cy="1718589"/>
              </a:xfrm>
              <a:prstGeom prst="ellipse">
                <a:avLst/>
              </a:prstGeom>
              <a:solidFill>
                <a:srgbClr val="289B87">
                  <a:alpha val="15000"/>
                </a:srgb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AEE83E9-08F1-18E5-FCAC-C0FAD43004F4}"/>
                  </a:ext>
                </a:extLst>
              </p:cNvPr>
              <p:cNvSpPr/>
              <p:nvPr/>
            </p:nvSpPr>
            <p:spPr>
              <a:xfrm>
                <a:off x="1427947" y="5109360"/>
                <a:ext cx="914400" cy="914400"/>
              </a:xfrm>
              <a:prstGeom prst="ellipse">
                <a:avLst/>
              </a:prstGeom>
              <a:solidFill>
                <a:srgbClr val="C6565A">
                  <a:alpha val="24475"/>
                </a:srgb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915E27B-FE52-E163-4EC3-B1B82E0B818E}"/>
                  </a:ext>
                </a:extLst>
              </p:cNvPr>
              <p:cNvSpPr txBox="1"/>
              <p:nvPr/>
            </p:nvSpPr>
            <p:spPr>
              <a:xfrm>
                <a:off x="814564" y="5413209"/>
                <a:ext cx="634777" cy="314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100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570EE19-BC35-1E20-2D64-66F8B169A676}"/>
                  </a:ext>
                </a:extLst>
              </p:cNvPr>
              <p:cNvSpPr txBox="1"/>
              <p:nvPr/>
            </p:nvSpPr>
            <p:spPr>
              <a:xfrm>
                <a:off x="1488778" y="5413209"/>
                <a:ext cx="634777" cy="314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915E31-5083-52C2-44F7-0785443C1D99}"/>
                  </a:ext>
                </a:extLst>
              </p:cNvPr>
              <p:cNvSpPr txBox="1"/>
              <p:nvPr/>
            </p:nvSpPr>
            <p:spPr>
              <a:xfrm>
                <a:off x="1871412" y="5413209"/>
                <a:ext cx="634777" cy="314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4FD5B25-A30E-9E1A-17A8-488222F89340}"/>
                </a:ext>
              </a:extLst>
            </p:cNvPr>
            <p:cNvSpPr txBox="1"/>
            <p:nvPr/>
          </p:nvSpPr>
          <p:spPr>
            <a:xfrm>
              <a:off x="1594584" y="4632370"/>
              <a:ext cx="113970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89B8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Environmental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A1F67EC-B560-FF74-A65B-49CE1CF590B7}"/>
                </a:ext>
              </a:extLst>
            </p:cNvPr>
            <p:cNvSpPr txBox="1"/>
            <p:nvPr/>
          </p:nvSpPr>
          <p:spPr>
            <a:xfrm>
              <a:off x="2703005" y="4632370"/>
              <a:ext cx="6705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6565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Clinical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D71F8FB-88BA-92D0-BEF4-65FB6F806DD7}"/>
                </a:ext>
              </a:extLst>
            </p:cNvPr>
            <p:cNvSpPr txBox="1"/>
            <p:nvPr/>
          </p:nvSpPr>
          <p:spPr>
            <a:xfrm>
              <a:off x="471359" y="2441549"/>
              <a:ext cx="28189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5308 records	 7676 measurements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28 provinces	 222 peer-reviewed studies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111 antibiotics	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 matrices: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DB83D6-EB8C-1DFC-C39E-307638A73237}"/>
                </a:ext>
              </a:extLst>
            </p:cNvPr>
            <p:cNvSpPr txBox="1"/>
            <p:nvPr/>
          </p:nvSpPr>
          <p:spPr>
            <a:xfrm>
              <a:off x="3399645" y="4385908"/>
              <a:ext cx="20858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2849 statistical records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93 Statistical Yearbook variables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31 provinces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10 groups: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F84077D-5CE9-604D-71F7-F7E228B6200F}"/>
                </a:ext>
              </a:extLst>
            </p:cNvPr>
            <p:cNvSpPr txBox="1"/>
            <p:nvPr/>
          </p:nvSpPr>
          <p:spPr>
            <a:xfrm>
              <a:off x="3399645" y="2441549"/>
              <a:ext cx="25837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1189 antibiotic resistance records 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31 provinces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18 antibiotics</a:t>
              </a:r>
            </a:p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 bacteria: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18254F90-18F2-6D45-A6B7-618F05F3BB31}"/>
                </a:ext>
              </a:extLst>
            </p:cNvPr>
            <p:cNvSpPr/>
            <p:nvPr/>
          </p:nvSpPr>
          <p:spPr>
            <a:xfrm>
              <a:off x="518776" y="3998218"/>
              <a:ext cx="2771560" cy="381187"/>
            </a:xfrm>
            <a:prstGeom prst="roundRect">
              <a:avLst/>
            </a:prstGeom>
            <a:solidFill>
              <a:srgbClr val="C89B0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Unique Antibiotics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A96162D-A984-7469-424A-68899F44BE7F}"/>
                </a:ext>
              </a:extLst>
            </p:cNvPr>
            <p:cNvGrpSpPr/>
            <p:nvPr/>
          </p:nvGrpSpPr>
          <p:grpSpPr>
            <a:xfrm>
              <a:off x="485621" y="4953000"/>
              <a:ext cx="1315484" cy="1073082"/>
              <a:chOff x="1564767" y="6650733"/>
              <a:chExt cx="1315484" cy="107308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85A1168-3908-41FA-B6EE-299D9BAEC537}"/>
                  </a:ext>
                </a:extLst>
              </p:cNvPr>
              <p:cNvSpPr txBox="1"/>
              <p:nvPr/>
            </p:nvSpPr>
            <p:spPr>
              <a:xfrm>
                <a:off x="1564767" y="6650733"/>
                <a:ext cx="1139709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sulfonamides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fluoroquinolones</a:t>
                </a:r>
              </a:p>
              <a:p>
                <a:pPr>
                  <a:buNone/>
                </a:pPr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macrolides</a:t>
                </a:r>
              </a:p>
              <a:p>
                <a:pPr>
                  <a:buNone/>
                </a:pPr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tetracyclines</a:t>
                </a:r>
              </a:p>
              <a:p>
                <a:pPr>
                  <a:buNone/>
                </a:pPr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beta-lactams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amphenicols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other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98BB84-9A0F-FA80-6E74-BD18EA38658B}"/>
                  </a:ext>
                </a:extLst>
              </p:cNvPr>
              <p:cNvSpPr txBox="1"/>
              <p:nvPr/>
            </p:nvSpPr>
            <p:spPr>
              <a:xfrm>
                <a:off x="2314897" y="6661986"/>
                <a:ext cx="565354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42</a:t>
                </a:r>
              </a:p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26</a:t>
                </a:r>
              </a:p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21</a:t>
                </a:r>
              </a:p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21</a:t>
                </a:r>
              </a:p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pPr algn="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26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0FE9982-71A0-32A1-A37B-6F54B1BC6D8E}"/>
                </a:ext>
              </a:extLst>
            </p:cNvPr>
            <p:cNvSpPr txBox="1"/>
            <p:nvPr/>
          </p:nvSpPr>
          <p:spPr>
            <a:xfrm>
              <a:off x="488259" y="4632370"/>
              <a:ext cx="10495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Groups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60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4C0F-4AEB-927B-A4A9-B6DC4F72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15D545-981B-EE8A-154C-3C67E37FC80D}"/>
              </a:ext>
            </a:extLst>
          </p:cNvPr>
          <p:cNvSpPr txBox="1"/>
          <p:nvPr/>
        </p:nvSpPr>
        <p:spPr>
          <a:xfrm>
            <a:off x="1894631" y="6696256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9E62DF-8532-4504-FC53-3B52365C51D8}"/>
              </a:ext>
            </a:extLst>
          </p:cNvPr>
          <p:cNvGrpSpPr/>
          <p:nvPr/>
        </p:nvGrpSpPr>
        <p:grpSpPr>
          <a:xfrm>
            <a:off x="112721" y="1220218"/>
            <a:ext cx="6632558" cy="5410931"/>
            <a:chOff x="112721" y="1220218"/>
            <a:chExt cx="6632558" cy="541093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575B9AF-3943-C9ED-196E-186C5EA5D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786" y="1589410"/>
              <a:ext cx="2876362" cy="227867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65EF4B5-7CAD-E9FB-2023-3F7B2D1A1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5040" y="1402309"/>
              <a:ext cx="3033751" cy="245533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0FD89AE-6C3B-C7CB-730A-ADF965BC1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780"/>
            <a:stretch>
              <a:fillRect/>
            </a:stretch>
          </p:blipFill>
          <p:spPr>
            <a:xfrm>
              <a:off x="112721" y="4232635"/>
              <a:ext cx="3316279" cy="23985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C130CC2-2D1F-7967-A1F1-65C39103D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1" t="6643" r="36949"/>
            <a:stretch>
              <a:fillRect/>
            </a:stretch>
          </p:blipFill>
          <p:spPr>
            <a:xfrm>
              <a:off x="3429000" y="4222376"/>
              <a:ext cx="3316279" cy="209494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1ACBDD-1FC6-4CF2-3A2C-0BFCF112074E}"/>
                </a:ext>
              </a:extLst>
            </p:cNvPr>
            <p:cNvSpPr txBox="1"/>
            <p:nvPr/>
          </p:nvSpPr>
          <p:spPr>
            <a:xfrm>
              <a:off x="199701" y="1220218"/>
              <a:ext cx="264816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97892-E889-2AC9-8A64-91739D276726}"/>
                </a:ext>
              </a:extLst>
            </p:cNvPr>
            <p:cNvSpPr txBox="1"/>
            <p:nvPr/>
          </p:nvSpPr>
          <p:spPr>
            <a:xfrm>
              <a:off x="3429000" y="1221212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518E34-4069-9F6D-9C0E-674AECC720E9}"/>
                </a:ext>
              </a:extLst>
            </p:cNvPr>
            <p:cNvSpPr txBox="1"/>
            <p:nvPr/>
          </p:nvSpPr>
          <p:spPr>
            <a:xfrm>
              <a:off x="199701" y="3949520"/>
              <a:ext cx="264816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390883-5060-517C-CE73-A2220E9710FE}"/>
                </a:ext>
              </a:extLst>
            </p:cNvPr>
            <p:cNvSpPr txBox="1"/>
            <p:nvPr/>
          </p:nvSpPr>
          <p:spPr>
            <a:xfrm>
              <a:off x="3429000" y="3949520"/>
              <a:ext cx="276038" cy="248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AF85F2-5844-9BDA-4C62-3F1928207C6D}"/>
                </a:ext>
              </a:extLst>
            </p:cNvPr>
            <p:cNvSpPr txBox="1"/>
            <p:nvPr/>
          </p:nvSpPr>
          <p:spPr>
            <a:xfrm>
              <a:off x="807294" y="3950514"/>
              <a:ext cx="22813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K3 Strongest Differentiating Features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F9482F-8161-56F0-4695-130FD777E337}"/>
                </a:ext>
              </a:extLst>
            </p:cNvPr>
            <p:cNvSpPr txBox="1"/>
            <p:nvPr/>
          </p:nvSpPr>
          <p:spPr>
            <a:xfrm>
              <a:off x="4282018" y="1221212"/>
              <a:ext cx="17251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PCA &amp; K-means Clustering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CDB212-AFE7-0D7E-E0CE-273EF362D075}"/>
                </a:ext>
              </a:extLst>
            </p:cNvPr>
            <p:cNvSpPr txBox="1"/>
            <p:nvPr/>
          </p:nvSpPr>
          <p:spPr>
            <a:xfrm>
              <a:off x="4347741" y="3949209"/>
              <a:ext cx="18421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K3 Top Explanatory Features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0566665-FCC9-BD9F-B337-5F977009CED4}"/>
                </a:ext>
              </a:extLst>
            </p:cNvPr>
            <p:cNvSpPr txBox="1"/>
            <p:nvPr/>
          </p:nvSpPr>
          <p:spPr>
            <a:xfrm>
              <a:off x="1177588" y="1221212"/>
              <a:ext cx="1540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K3 Provincial Clustering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803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59F56FE-C2B9-3CC5-1789-D7ADB6628E99}"/>
              </a:ext>
            </a:extLst>
          </p:cNvPr>
          <p:cNvGrpSpPr/>
          <p:nvPr/>
        </p:nvGrpSpPr>
        <p:grpSpPr>
          <a:xfrm>
            <a:off x="882869" y="393035"/>
            <a:ext cx="4421393" cy="6935210"/>
            <a:chOff x="882869" y="393035"/>
            <a:chExt cx="4421393" cy="69352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3DF0C4-2B94-D850-FF3E-804B8F974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077"/>
            <a:stretch>
              <a:fillRect/>
            </a:stretch>
          </p:blipFill>
          <p:spPr>
            <a:xfrm>
              <a:off x="882869" y="5137975"/>
              <a:ext cx="4421393" cy="219027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F3E7AC-5CBE-558B-E6E5-ECA0FE414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029"/>
            <a:stretch>
              <a:fillRect/>
            </a:stretch>
          </p:blipFill>
          <p:spPr>
            <a:xfrm>
              <a:off x="882869" y="2847789"/>
              <a:ext cx="4421393" cy="210521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23AAC4-337E-6733-6673-C2C8C11B2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254"/>
            <a:stretch>
              <a:fillRect/>
            </a:stretch>
          </p:blipFill>
          <p:spPr>
            <a:xfrm>
              <a:off x="882869" y="623867"/>
              <a:ext cx="4421393" cy="204354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606E4D-DDB1-9FB1-2207-58A79CEF242A}"/>
                </a:ext>
              </a:extLst>
            </p:cNvPr>
            <p:cNvSpPr txBox="1"/>
            <p:nvPr/>
          </p:nvSpPr>
          <p:spPr>
            <a:xfrm>
              <a:off x="913929" y="393035"/>
              <a:ext cx="28566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Cluster 1 Inland Gram-Positive Reservoir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41DE10-F15D-AA13-6648-3860E32076A6}"/>
                </a:ext>
              </a:extLst>
            </p:cNvPr>
            <p:cNvSpPr txBox="1"/>
            <p:nvPr/>
          </p:nvSpPr>
          <p:spPr>
            <a:xfrm>
              <a:off x="913929" y="2660907"/>
              <a:ext cx="28566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Cluster 2 Eastern Industrial Aquaculture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4E667E-A779-EC14-E465-5A80F9BB1123}"/>
                </a:ext>
              </a:extLst>
            </p:cNvPr>
            <p:cNvSpPr txBox="1"/>
            <p:nvPr/>
          </p:nvSpPr>
          <p:spPr>
            <a:xfrm>
              <a:off x="913929" y="4951093"/>
              <a:ext cx="28566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Cluster 3 Coastal Clinical Hotspot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254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7E1FEBAA-8405-FC99-31CA-A13F1BCCC3E1}"/>
              </a:ext>
            </a:extLst>
          </p:cNvPr>
          <p:cNvGrpSpPr/>
          <p:nvPr/>
        </p:nvGrpSpPr>
        <p:grpSpPr>
          <a:xfrm>
            <a:off x="71866" y="1700760"/>
            <a:ext cx="6586433" cy="4613902"/>
            <a:chOff x="71866" y="1700760"/>
            <a:chExt cx="6586433" cy="46139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363E550-9F42-1B28-EC46-59A705F45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046" t="1" r="9162" b="4466"/>
            <a:stretch>
              <a:fillRect/>
            </a:stretch>
          </p:blipFill>
          <p:spPr>
            <a:xfrm>
              <a:off x="305830" y="1799133"/>
              <a:ext cx="3071064" cy="229952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9C01CBD-2B4D-B7AB-0E4A-5267E6D1E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098"/>
            <a:stretch>
              <a:fillRect/>
            </a:stretch>
          </p:blipFill>
          <p:spPr>
            <a:xfrm>
              <a:off x="71866" y="4479427"/>
              <a:ext cx="3370387" cy="176388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C4369B-8A28-9357-1ED8-AF2F41856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717"/>
            <a:stretch>
              <a:fillRect/>
            </a:stretch>
          </p:blipFill>
          <p:spPr>
            <a:xfrm>
              <a:off x="3376894" y="1912807"/>
              <a:ext cx="3281405" cy="185627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6711C4-BEAA-CA0E-BED5-99A8AD54E8EB}"/>
                </a:ext>
              </a:extLst>
            </p:cNvPr>
            <p:cNvSpPr txBox="1"/>
            <p:nvPr/>
          </p:nvSpPr>
          <p:spPr>
            <a:xfrm>
              <a:off x="199701" y="1700760"/>
              <a:ext cx="264816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68B991-9160-1942-EC8D-4799D70B8D5B}"/>
                </a:ext>
              </a:extLst>
            </p:cNvPr>
            <p:cNvSpPr txBox="1"/>
            <p:nvPr/>
          </p:nvSpPr>
          <p:spPr>
            <a:xfrm>
              <a:off x="3429000" y="1700760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4C6381-3778-5B56-60F9-BB0726CA937B}"/>
                </a:ext>
              </a:extLst>
            </p:cNvPr>
            <p:cNvSpPr txBox="1"/>
            <p:nvPr/>
          </p:nvSpPr>
          <p:spPr>
            <a:xfrm>
              <a:off x="188479" y="4226562"/>
              <a:ext cx="264816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13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33117A-4824-40AD-77DD-8E19A514D6F3}"/>
                </a:ext>
              </a:extLst>
            </p:cNvPr>
            <p:cNvSpPr txBox="1"/>
            <p:nvPr/>
          </p:nvSpPr>
          <p:spPr>
            <a:xfrm>
              <a:off x="3417778" y="4226562"/>
              <a:ext cx="279244" cy="248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13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04370E7-A2C5-10ED-83BE-8A8CC9A7610C}"/>
                </a:ext>
              </a:extLst>
            </p:cNvPr>
            <p:cNvGrpSpPr/>
            <p:nvPr/>
          </p:nvGrpSpPr>
          <p:grpSpPr>
            <a:xfrm>
              <a:off x="3442253" y="4470114"/>
              <a:ext cx="3216046" cy="1844548"/>
              <a:chOff x="3229301" y="4305129"/>
              <a:chExt cx="3216046" cy="184454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2BD3097-A92C-68E3-CB6B-C5E3F051E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5308" r="66709"/>
              <a:stretch>
                <a:fillRect/>
              </a:stretch>
            </p:blipFill>
            <p:spPr>
              <a:xfrm>
                <a:off x="3229301" y="4305129"/>
                <a:ext cx="1163796" cy="1844548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99D9255-8643-A1AC-2427-63A314945B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70441" t="5308"/>
              <a:stretch>
                <a:fillRect/>
              </a:stretch>
            </p:blipFill>
            <p:spPr>
              <a:xfrm>
                <a:off x="5412024" y="4305129"/>
                <a:ext cx="1033323" cy="1844548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8CFA4230-B0E6-3D91-0C48-284A2B554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7271" t="5308" r="33170" b="6259"/>
              <a:stretch>
                <a:fillRect/>
              </a:stretch>
            </p:blipFill>
            <p:spPr>
              <a:xfrm>
                <a:off x="4393097" y="4305129"/>
                <a:ext cx="1033323" cy="1722616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53C947-4A3E-8C6A-8711-A9023B7FABE8}"/>
                </a:ext>
              </a:extLst>
            </p:cNvPr>
            <p:cNvSpPr txBox="1"/>
            <p:nvPr/>
          </p:nvSpPr>
          <p:spPr>
            <a:xfrm>
              <a:off x="1050777" y="1700760"/>
              <a:ext cx="1435008" cy="248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Environmental Burden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1E13A8-C340-4EE7-1E72-23758ED15C37}"/>
                </a:ext>
              </a:extLst>
            </p:cNvPr>
            <p:cNvSpPr txBox="1"/>
            <p:nvPr/>
          </p:nvSpPr>
          <p:spPr>
            <a:xfrm>
              <a:off x="4268003" y="1701754"/>
              <a:ext cx="17011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Matrix Reservoir Hierarchy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60E848-8C83-6EF4-DF5C-04833C9919ED}"/>
                </a:ext>
              </a:extLst>
            </p:cNvPr>
            <p:cNvSpPr txBox="1"/>
            <p:nvPr/>
          </p:nvSpPr>
          <p:spPr>
            <a:xfrm>
              <a:off x="4187881" y="4227556"/>
              <a:ext cx="18982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Cluster Reservoir Architecture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C70FE4-B52B-0059-6B01-4D2473585A89}"/>
                </a:ext>
              </a:extLst>
            </p:cNvPr>
            <p:cNvSpPr txBox="1"/>
            <p:nvPr/>
          </p:nvSpPr>
          <p:spPr>
            <a:xfrm>
              <a:off x="1103019" y="4227556"/>
              <a:ext cx="15263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Source-Matrix Linkages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41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98BC2A6-7521-29C5-084F-68FD31EFE743}"/>
              </a:ext>
            </a:extLst>
          </p:cNvPr>
          <p:cNvGrpSpPr/>
          <p:nvPr/>
        </p:nvGrpSpPr>
        <p:grpSpPr>
          <a:xfrm>
            <a:off x="149935" y="2134990"/>
            <a:ext cx="6542739" cy="2415114"/>
            <a:chOff x="149935" y="2134990"/>
            <a:chExt cx="6542739" cy="24151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7AACE5-806E-3FD4-1D6D-D7307D322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921"/>
            <a:stretch>
              <a:fillRect/>
            </a:stretch>
          </p:blipFill>
          <p:spPr>
            <a:xfrm>
              <a:off x="149935" y="2420066"/>
              <a:ext cx="3238273" cy="213003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DFBEAC-F84C-563E-5384-B3771FD4B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921"/>
            <a:stretch>
              <a:fillRect/>
            </a:stretch>
          </p:blipFill>
          <p:spPr>
            <a:xfrm>
              <a:off x="3454401" y="2420064"/>
              <a:ext cx="3238273" cy="213003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680395-160A-7250-0FE8-1DCAECB6BB4C}"/>
                </a:ext>
              </a:extLst>
            </p:cNvPr>
            <p:cNvSpPr txBox="1"/>
            <p:nvPr/>
          </p:nvSpPr>
          <p:spPr>
            <a:xfrm>
              <a:off x="190727" y="2134990"/>
              <a:ext cx="264816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66441B-53D5-8159-396F-B9FF06E8C63B}"/>
                </a:ext>
              </a:extLst>
            </p:cNvPr>
            <p:cNvSpPr txBox="1"/>
            <p:nvPr/>
          </p:nvSpPr>
          <p:spPr>
            <a:xfrm>
              <a:off x="3496229" y="2134990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132A1A-4EAA-A3CA-4F19-F5116C77E493}"/>
                </a:ext>
              </a:extLst>
            </p:cNvPr>
            <p:cNvSpPr txBox="1"/>
            <p:nvPr/>
          </p:nvSpPr>
          <p:spPr>
            <a:xfrm>
              <a:off x="1087779" y="2134990"/>
              <a:ext cx="12779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Soil – Ciprofloxacin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58368B-50FC-9B36-05F3-6ED842B2B0BA}"/>
                </a:ext>
              </a:extLst>
            </p:cNvPr>
            <p:cNvSpPr txBox="1"/>
            <p:nvPr/>
          </p:nvSpPr>
          <p:spPr>
            <a:xfrm>
              <a:off x="4447651" y="2134990"/>
              <a:ext cx="12009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Soil - Tetracycline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501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32A4F-5018-4BBB-378B-D5CD4D00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B9DCE07-63CB-BE6B-DCDC-66434B1D98F8}"/>
              </a:ext>
            </a:extLst>
          </p:cNvPr>
          <p:cNvGrpSpPr/>
          <p:nvPr/>
        </p:nvGrpSpPr>
        <p:grpSpPr>
          <a:xfrm>
            <a:off x="376383" y="3095322"/>
            <a:ext cx="5802559" cy="3326260"/>
            <a:chOff x="376383" y="3095322"/>
            <a:chExt cx="5802559" cy="33262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5D254A5-2ABD-F3F7-C512-93270BE95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433"/>
            <a:stretch>
              <a:fillRect/>
            </a:stretch>
          </p:blipFill>
          <p:spPr>
            <a:xfrm>
              <a:off x="4426530" y="3341543"/>
              <a:ext cx="1752412" cy="308003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198E59-A3E8-5455-3AFE-2B07313D9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204"/>
            <a:stretch>
              <a:fillRect/>
            </a:stretch>
          </p:blipFill>
          <p:spPr>
            <a:xfrm>
              <a:off x="376383" y="3361107"/>
              <a:ext cx="4174835" cy="254670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82325E3-7772-606C-3796-4A83F7357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661" y="6095028"/>
              <a:ext cx="3502890" cy="31598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16698C-C41F-B94F-C493-939F26646949}"/>
                </a:ext>
              </a:extLst>
            </p:cNvPr>
            <p:cNvSpPr txBox="1"/>
            <p:nvPr/>
          </p:nvSpPr>
          <p:spPr>
            <a:xfrm>
              <a:off x="554409" y="3095322"/>
              <a:ext cx="264816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08E3C14-6906-CAB1-8330-3380FF9D2971}"/>
                </a:ext>
              </a:extLst>
            </p:cNvPr>
            <p:cNvSpPr txBox="1"/>
            <p:nvPr/>
          </p:nvSpPr>
          <p:spPr>
            <a:xfrm>
              <a:off x="4431416" y="3095322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1749C02-AC0D-22B4-FA5C-DEF1F247C057}"/>
                </a:ext>
              </a:extLst>
            </p:cNvPr>
            <p:cNvSpPr txBox="1"/>
            <p:nvPr/>
          </p:nvSpPr>
          <p:spPr>
            <a:xfrm>
              <a:off x="1804755" y="3095322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Relative Margin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557CB4-472E-0A3D-6186-6BCEAAC3A76E}"/>
                </a:ext>
              </a:extLst>
            </p:cNvPr>
            <p:cNvSpPr txBox="1"/>
            <p:nvPr/>
          </p:nvSpPr>
          <p:spPr>
            <a:xfrm>
              <a:off x="4905091" y="3095322"/>
              <a:ext cx="8370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Top Scores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8300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1485</TotalTime>
  <Words>340</Words>
  <Application>Microsoft Macintosh PowerPoint</Application>
  <PresentationFormat>A4 Paper (210x297 mm)</PresentationFormat>
  <Paragraphs>129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Meier</dc:creator>
  <cp:lastModifiedBy>Michael Meier</cp:lastModifiedBy>
  <cp:revision>9</cp:revision>
  <dcterms:created xsi:type="dcterms:W3CDTF">2026-04-20T08:10:41Z</dcterms:created>
  <dcterms:modified xsi:type="dcterms:W3CDTF">2026-04-21T19:28:06Z</dcterms:modified>
</cp:coreProperties>
</file>